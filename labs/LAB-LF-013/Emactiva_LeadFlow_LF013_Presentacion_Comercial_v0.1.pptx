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A45745"/>
          </a:solidFill>
          <a:ln w="12700">
            <a:solidFill>
              <a:srgbClr val="A457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EMACTIVA  /  LEADFLOW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384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comercial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6318504"/>
            <a:ext cx="11000232" cy="0"/>
          </a:xfrm>
          <a:prstGeom prst="line">
            <a:avLst/>
          </a:prstGeom>
          <a:noFill/>
          <a:ln w="12700">
            <a:solidFill>
              <a:srgbClr val="EAE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que avanzan contigo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2487168" cy="347472"/>
          </a:xfrm>
          <a:prstGeom prst="roundRect">
            <a:avLst>
              <a:gd name="adj" fmla="val 34211"/>
            </a:avLst>
          </a:prstGeom>
          <a:solidFill>
            <a:srgbClr val="EFE4DE"/>
          </a:solidFill>
          <a:ln w="12700">
            <a:solidFill>
              <a:srgbClr val="EFE4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27101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PROSPECTOS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LeadFlow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667512" y="306324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tareas manuales.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control sobre cada oportunidad.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58368" y="4901184"/>
            <a:ext cx="5394960" cy="64008"/>
          </a:xfrm>
          <a:prstGeom prst="rect">
            <a:avLst/>
          </a:prstGeom>
          <a:solidFill>
            <a:srgbClr val="A45745"/>
          </a:solidFill>
          <a:ln w="12700">
            <a:solidFill>
              <a:srgbClr val="A45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5193792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solución de Emactiva para conectar y ordenar la recepción de prospectos.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A45745"/>
          </a:solidFill>
          <a:ln w="12700">
            <a:solidFill>
              <a:srgbClr val="A457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EMACTIVA  /  LEADFLOW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384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6318504"/>
            <a:ext cx="11000232" cy="0"/>
          </a:xfrm>
          <a:prstGeom prst="line">
            <a:avLst/>
          </a:prstGeom>
          <a:noFill/>
          <a:ln w="12700">
            <a:solidFill>
              <a:srgbClr val="EAE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que avanzan contigo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987552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contacto nuevo no debería generar más trabajo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12648" y="20299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las herramientas y tareas están desconectadas, gestionar prospectos se vuelve difícil.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" y="3063240"/>
            <a:ext cx="353872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063240"/>
            <a:ext cx="3538728" cy="73152"/>
          </a:xfrm>
          <a:prstGeom prst="rect">
            <a:avLst/>
          </a:prstGeom>
          <a:solidFill>
            <a:srgbClr val="A45745"/>
          </a:solidFill>
          <a:ln w="12700">
            <a:solidFill>
              <a:srgbClr val="A45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429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86968" y="398678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Ingresos manuales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86968" y="4562856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que debe copiarse de un sistema a otro.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80560" y="3063240"/>
            <a:ext cx="353872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3063240"/>
            <a:ext cx="3538728" cy="73152"/>
          </a:xfrm>
          <a:prstGeom prst="rect">
            <a:avLst/>
          </a:prstGeom>
          <a:solidFill>
            <a:srgbClr val="A45745"/>
          </a:solidFill>
          <a:ln w="12700">
            <a:solidFill>
              <a:srgbClr val="A457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429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9160" y="398678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Contactos duplicados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09160" y="4562856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repetidos que complican el seguimiento.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02752" y="3063240"/>
            <a:ext cx="353872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2752" y="3063240"/>
            <a:ext cx="3538728" cy="73152"/>
          </a:xfrm>
          <a:prstGeom prst="rect">
            <a:avLst/>
          </a:prstGeom>
          <a:solidFill>
            <a:srgbClr val="A45745"/>
          </a:solidFill>
          <a:ln w="12700">
            <a:solidFill>
              <a:srgbClr val="A457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31352" y="3429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531352" y="398678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de visibilidad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531352" y="4562856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difícil saber qué pasó cuando algo falla.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A45745"/>
          </a:solidFill>
          <a:ln w="12700">
            <a:solidFill>
              <a:srgbClr val="A457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EMACTIVA  /  LEADFLOW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384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solución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6318504"/>
            <a:ext cx="11000232" cy="0"/>
          </a:xfrm>
          <a:prstGeom prst="line">
            <a:avLst/>
          </a:prstGeom>
          <a:noFill/>
          <a:ln w="12700">
            <a:solidFill>
              <a:srgbClr val="EAE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que avanzan contigo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987552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formulario al CRM, con un proceso controlado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12648" y="20299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LeadFlow valida cada recepción, coordina el CRM y deja trazabilidad del resultado.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3246120"/>
            <a:ext cx="25146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557016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Recibir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5528" y="406908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digital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18688" y="3675888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3611880" y="3246120"/>
            <a:ext cx="25146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3557016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21608" y="406908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consistentes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44768" y="3675888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6537960" y="3246120"/>
            <a:ext cx="2514600" cy="1389888"/>
          </a:xfrm>
          <a:prstGeom prst="rect">
            <a:avLst/>
          </a:prstGeom>
          <a:solidFill>
            <a:srgbClr val="EFE4DE"/>
          </a:solidFill>
          <a:ln w="12700">
            <a:solidFill>
              <a:srgbClr val="EFE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3557016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Gestionar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47688" y="406908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 en CRM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70848" y="3675888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22" name="Shape 20"/>
          <p:cNvSpPr/>
          <p:nvPr/>
        </p:nvSpPr>
        <p:spPr>
          <a:xfrm>
            <a:off x="9464040" y="3246120"/>
            <a:ext cx="25146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19488" y="3557016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573768" y="406908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y trazabilidad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5257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ocurre un fallo, aplica reintentos controlados y recuperación segura cuando corresponde.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A45745"/>
          </a:solidFill>
          <a:ln w="12700">
            <a:solidFill>
              <a:srgbClr val="A457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EMACTIVA  /  LEADFLOW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384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funciona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6318504"/>
            <a:ext cx="11000232" cy="0"/>
          </a:xfrm>
          <a:prstGeom prst="line">
            <a:avLst/>
          </a:prstGeom>
          <a:noFill/>
          <a:ln w="12700">
            <a:solidFill>
              <a:srgbClr val="EAE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que avanzan contigo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987552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contacto. Varias consultas. Sin duplicados innecesarios.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12648" y="20299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LeadFlow distingue el envío, la persona y la consulta que realiza.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063240"/>
            <a:ext cx="318211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63240"/>
            <a:ext cx="91440" cy="1252728"/>
          </a:xfrm>
          <a:prstGeom prst="rect">
            <a:avLst/>
          </a:prstGeom>
          <a:solidFill>
            <a:srgbClr val="A45745"/>
          </a:solidFill>
          <a:ln w="12700">
            <a:solidFill>
              <a:srgbClr val="A45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264408"/>
            <a:ext cx="2734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60120" y="3831336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envío técnico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50208" y="34381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480560" y="3063240"/>
            <a:ext cx="318211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3063240"/>
            <a:ext cx="91440" cy="1252728"/>
          </a:xfrm>
          <a:prstGeom prst="rect">
            <a:avLst/>
          </a:prstGeom>
          <a:solidFill>
            <a:srgbClr val="25282A"/>
          </a:solidFill>
          <a:ln w="12700">
            <a:solidFill>
              <a:srgbClr val="2528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264408"/>
            <a:ext cx="2734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709160" y="3831336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mismo contacto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99248" y="34381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229600" y="3063240"/>
            <a:ext cx="318211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3063240"/>
            <a:ext cx="91440" cy="1252728"/>
          </a:xfrm>
          <a:prstGeom prst="rect">
            <a:avLst/>
          </a:prstGeom>
          <a:solidFill>
            <a:srgbClr val="45776B"/>
          </a:solidFill>
          <a:ln w="12700">
            <a:solidFill>
              <a:srgbClr val="4577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264408"/>
            <a:ext cx="2734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57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8458200" y="3831336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opcionales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41832" y="4800600"/>
            <a:ext cx="10149840" cy="859536"/>
          </a:xfrm>
          <a:prstGeom prst="rect">
            <a:avLst/>
          </a:prstGeom>
          <a:solidFill>
            <a:srgbClr val="EFE4DE"/>
          </a:solidFill>
          <a:ln w="12700">
            <a:solidFill>
              <a:srgbClr val="EFE4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4956048"/>
            <a:ext cx="9637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Ejemplo: una empresa consulta hoy por un servicio y mañana por otro.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conservarse un contacto y registrar dos consultas distintas.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A45745"/>
          </a:solidFill>
          <a:ln w="12700">
            <a:solidFill>
              <a:srgbClr val="A457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EMACTIVA  /  LEADFLOW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384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Beneficios y confiabilidad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6318504"/>
            <a:ext cx="11000232" cy="0"/>
          </a:xfrm>
          <a:prstGeom prst="line">
            <a:avLst/>
          </a:prstGeom>
          <a:noFill/>
          <a:ln w="12700">
            <a:solidFill>
              <a:srgbClr val="EAE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que avanzan contigo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987552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orden para trabajar. Más claridad cuando algo falla.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12648" y="20299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LeadFlow no solo transporta información: aplica controles sobre el proceso.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2779776"/>
            <a:ext cx="5266944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779776"/>
            <a:ext cx="82296" cy="1252728"/>
          </a:xfrm>
          <a:prstGeom prst="rect">
            <a:avLst/>
          </a:prstGeom>
          <a:solidFill>
            <a:srgbClr val="A45745"/>
          </a:solidFill>
          <a:ln w="12700">
            <a:solidFill>
              <a:srgbClr val="A45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990088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duplicar efectos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32688" y="3474720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envío repetido no vuelve a crear el mismo resultado externo.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6208" y="2779776"/>
            <a:ext cx="5266944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6208" y="2779776"/>
            <a:ext cx="82296" cy="1252728"/>
          </a:xfrm>
          <a:prstGeom prst="rect">
            <a:avLst/>
          </a:prstGeom>
          <a:solidFill>
            <a:srgbClr val="A45745"/>
          </a:solidFill>
          <a:ln w="12700">
            <a:solidFill>
              <a:srgbClr val="A45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096" y="2990088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técnico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83096" y="3474720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recepción tiene estado y referencia de ejecución.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4297680"/>
            <a:ext cx="5266944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297680"/>
            <a:ext cx="82296" cy="1252728"/>
          </a:xfrm>
          <a:prstGeom prst="rect">
            <a:avLst/>
          </a:prstGeom>
          <a:solidFill>
            <a:srgbClr val="A45745"/>
          </a:solidFill>
          <a:ln w="12700">
            <a:solidFill>
              <a:srgbClr val="A457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07992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cuidadosa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2688" y="4992624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 operaciones ambiguas, reconcilia antes de repetir.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36208" y="4297680"/>
            <a:ext cx="5266944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6208" y="4297680"/>
            <a:ext cx="82296" cy="1252728"/>
          </a:xfrm>
          <a:prstGeom prst="rect">
            <a:avLst/>
          </a:prstGeom>
          <a:solidFill>
            <a:srgbClr val="A45745"/>
          </a:solidFill>
          <a:ln w="12700">
            <a:solidFill>
              <a:srgbClr val="A457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83096" y="4507992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adaptable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83096" y="4992624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núcleo y las integraciones permanecen separados.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A45745"/>
          </a:solidFill>
          <a:ln w="12700">
            <a:solidFill>
              <a:srgbClr val="A457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EMACTIVA  /  LEADFLOW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384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y modalidades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6318504"/>
            <a:ext cx="11000232" cy="0"/>
          </a:xfrm>
          <a:prstGeom prst="line">
            <a:avLst/>
          </a:prstGeom>
          <a:noFill/>
          <a:ln w="12700">
            <a:solidFill>
              <a:srgbClr val="EAE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que avanzan contigo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/  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987552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solución que se adapta al contexto del negocio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12648" y="20299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HubSpot es el primer CRM real validado; otras integraciones requieren evaluación.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94944" y="2916936"/>
            <a:ext cx="5230368" cy="2258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218688"/>
            <a:ext cx="4562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técnica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978408" y="3904488"/>
            <a:ext cx="45354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Emactiva entrega el producto y la documentación. El cliente implementa y opera en su entorno.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45352" y="2916936"/>
            <a:ext cx="5230368" cy="2258568"/>
          </a:xfrm>
          <a:prstGeom prst="rect">
            <a:avLst/>
          </a:prstGeom>
          <a:solidFill>
            <a:srgbClr val="EFE4DE"/>
          </a:solidFill>
          <a:ln w="12700">
            <a:solidFill>
              <a:srgbClr val="EF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3218688"/>
            <a:ext cx="4636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Implementado por Emactiva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19672" y="3904488"/>
            <a:ext cx="45994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Emactiva configura, integra, despliega y valida lo acordado. El cliente acepta y asume la operación tras la entrega.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" y="5632704"/>
            <a:ext cx="10570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Alcances, proveedores, infraestructura, licencias y soporte se definen para cada implementación.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A45745"/>
          </a:solidFill>
          <a:ln w="12700">
            <a:solidFill>
              <a:srgbClr val="A457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EMACTIVA  /  LEADFLOW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384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 paso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6318504"/>
            <a:ext cx="11000232" cy="0"/>
          </a:xfrm>
          <a:prstGeom prst="line">
            <a:avLst/>
          </a:prstGeom>
          <a:noFill/>
          <a:ln w="12700">
            <a:solidFill>
              <a:srgbClr val="EAE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que avanzan contigo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/  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298448"/>
            <a:ext cx="1618488" cy="347472"/>
          </a:xfrm>
          <a:prstGeom prst="roundRect">
            <a:avLst>
              <a:gd name="adj" fmla="val 34211"/>
            </a:avLst>
          </a:prstGeom>
          <a:solidFill>
            <a:srgbClr val="EFE4DE"/>
          </a:solidFill>
          <a:ln w="12700">
            <a:solidFill>
              <a:srgbClr val="EFE4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35024"/>
            <a:ext cx="1380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CONVERSEMOS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" y="1901952"/>
            <a:ext cx="106984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primera pregunta no es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tecnología usar.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685800" y="3429000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A457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qué necesita mejorar tu negocio.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04088" y="4297680"/>
            <a:ext cx="10698480" cy="10698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453128"/>
            <a:ext cx="10131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¿De dónde llegan hoy tus prospectos, cómo los gestionas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2528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dónde se producen los mayores problemas?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568756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Emactiva  ·  Ideas que avanzan contigo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Emactiva LeadFlow — Presentación comercial</dc:title>
  <dc:subject>LAB-LF-013 — Presentación comercial LeadFlow</dc:subject>
  <dc:creator>Emactiva</dc:creator>
  <cp:lastModifiedBy>Emactiva</cp:lastModifiedBy>
  <cp:revision>1</cp:revision>
  <dcterms:created xsi:type="dcterms:W3CDTF">2026-10-08T14:28:17Z</dcterms:created>
  <dcterms:modified xsi:type="dcterms:W3CDTF">2026-10-08T14:28:17Z</dcterms:modified>
</cp:coreProperties>
</file>